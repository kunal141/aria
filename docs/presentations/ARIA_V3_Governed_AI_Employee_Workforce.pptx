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 isn't another chatbot. It's a governed AI employee system — it owns a goal end to end, under control. I'll show you what that means and why it matters for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blocker to adopting AI for real work isn't capability — it's control. You can't put an ungoverned agent near a production system. That's the problem ARIA solves.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ARIA as the control plane. The model is one component; the product is everything around it that makes the model's work reliable, governed, and improvable.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line is the whole pitch: an assistant answers; ARIA owns a goal, plans the work, produces artifacts, asks for approval, learns, and reports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subsystems, all under one governance and audit contract. The point isn't one flashy capability — it's breadth held to production discipline.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loop a vague business goal travels — and we can run it end to end, offline, deterministically, in one command. Every transition is audited.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assembles the right specialists for the goal, supervises them, and — importantly — stops when evidence is missing instead of fabricating an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gets better over time — carefully. It proposes; a human approves; a safety check gates activation. The important part is not autonomy alone. The important part is governed autonomy.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writes the update a good colleague would send — but it's a draft. Nothing leaves the system. Even an approved draft is not sent.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part everyone is right to worry about. ARIA previews the action, runs it dry, and the instant it points at a real external system, the gate blocks it. Approval is locked to the exact payload.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you manage it — what it worked on, what it learned, what it needs, what it risks, and the value it produced. The ROI is clearly an estimate, with the method shown. We don't invent numbers.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aren't gaps we forgot — they're deliberate boundaries, enforced in code and tests. That discipline is exactly what makes ARIA adoptable.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strategic point. We can adopt any future runtime without giving up control. Anthropic provides the engine; ARIA provides the governed work ownership around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slide-ware. It's built, tested, frozen, tagged, and merged — and it runs end to end offline. And it's private until we decide otherwise.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V4 is where external runtimes plug in as governed workers — but none of it is started, and all of it stays behind the same governance and approval we built in V3.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73152"/>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1463040"/>
          </a:xfrm>
          <a:prstGeom prst="rect">
            <a:avLst/>
          </a:prstGeom>
          <a:noFill/>
        </p:spPr>
        <p:txBody>
          <a:bodyPr wrap="square">
            <a:spAutoFit/>
          </a:bodyPr>
          <a:lstStyle/>
          <a:p>
            <a:r>
              <a:rPr sz="4000" b="1">
                <a:solidFill>
                  <a:srgbClr val="FFFFFF"/>
                </a:solidFill>
              </a:rPr>
              <a:t>ARIA V3 — Governed AI Employee Workforce</a:t>
            </a:r>
          </a:p>
        </p:txBody>
      </p:sp>
      <p:sp>
        <p:nvSpPr>
          <p:cNvPr id="5" name="TextBox 4"/>
          <p:cNvSpPr txBox="1"/>
          <p:nvPr/>
        </p:nvSpPr>
        <p:spPr>
          <a:xfrm>
            <a:off x="822960" y="3383280"/>
            <a:ext cx="10515600" cy="731520"/>
          </a:xfrm>
          <a:prstGeom prst="rect">
            <a:avLst/>
          </a:prstGeom>
          <a:noFill/>
        </p:spPr>
        <p:txBody>
          <a:bodyPr wrap="square">
            <a:spAutoFit/>
          </a:bodyPr>
          <a:lstStyle/>
          <a:p>
            <a:r>
              <a:rPr sz="1800">
                <a:solidFill>
                  <a:srgbClr val="CFD8E3"/>
                </a:solidFill>
              </a:rPr>
              <a:t>From an AI that answers to an AI that owns work — under governance.</a:t>
            </a:r>
          </a:p>
        </p:txBody>
      </p:sp>
      <p:sp>
        <p:nvSpPr>
          <p:cNvPr id="6" name="TextBox 5"/>
          <p:cNvSpPr txBox="1"/>
          <p:nvPr/>
        </p:nvSpPr>
        <p:spPr>
          <a:xfrm>
            <a:off x="822960" y="4389120"/>
            <a:ext cx="10515600" cy="1463040"/>
          </a:xfrm>
          <a:prstGeom prst="rect">
            <a:avLst/>
          </a:prstGeom>
          <a:noFill/>
        </p:spPr>
        <p:txBody>
          <a:bodyPr wrap="square">
            <a:spAutoFit/>
          </a:bodyPr>
          <a:lstStyle/>
          <a:p>
            <a:r>
              <a:rPr sz="1300">
                <a:solidFill>
                  <a:srgbClr val="B7C2CE"/>
                </a:solidFill>
              </a:rPr>
              <a:t>ARIA = Autonomous Role-based Intelligence Agent</a:t>
            </a:r>
          </a:p>
          <a:p>
            <a:r>
              <a:rPr sz="1300">
                <a:solidFill>
                  <a:srgbClr val="B7C2CE"/>
                </a:solidFill>
              </a:rPr>
              <a:t>V3: Goal-Driven AI Employee Workforce — COMPLETE</a:t>
            </a:r>
          </a:p>
          <a:p>
            <a:r>
              <a:rPr sz="1300">
                <a:solidFill>
                  <a:srgbClr val="B7C2CE"/>
                </a:solidFill>
              </a:rPr>
              <a:t>371 V3 tests passed · 1577 backend passed, 1 skipped · tag aria-v3-goal-driven-workforce (17021ef)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AI Tools Answer. Businesses Need Work Ownership.</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Assistants respond to prompts — then stop.</a:t>
            </a:r>
          </a:p>
          <a:p>
            <a:pPr>
              <a:spcAft>
                <a:spcPts val="800"/>
              </a:spcAft>
            </a:pPr>
            <a:r>
              <a:rPr sz="1800" b="1">
                <a:solidFill>
                  <a:srgbClr val="333333"/>
                </a:solidFill>
              </a:rPr>
              <a:t>•  Agent launchers spin up agents — then you hope they behave.</a:t>
            </a:r>
          </a:p>
          <a:p>
            <a:pPr>
              <a:spcAft>
                <a:spcPts val="800"/>
              </a:spcAft>
            </a:pPr>
            <a:r>
              <a:rPr sz="1800" b="1">
                <a:solidFill>
                  <a:srgbClr val="333333"/>
                </a:solidFill>
              </a:rPr>
              <a:t>•  Enterprises hesitate not because models are weak, but because they cannot trust, audit, approve, or roll back AI actions.</a:t>
            </a:r>
          </a:p>
          <a:p>
            <a:pPr>
              <a:spcAft>
                <a:spcPts val="800"/>
              </a:spcAft>
            </a:pPr>
            <a:r>
              <a:rPr sz="1800" b="1">
                <a:solidFill>
                  <a:srgbClr val="333333"/>
                </a:solidFill>
              </a:rPr>
              <a:t>•  The missing piece: accountable work ownership, not more answers.</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A Governed AI Employee Control Plane</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ARIA is not a chatbot. ARIA is a governed AI employee control plane.</a:t>
            </a:r>
          </a:p>
          <a:p>
            <a:pPr>
              <a:spcAft>
                <a:spcPts val="800"/>
              </a:spcAft>
            </a:pPr>
            <a:r>
              <a:rPr sz="1800" b="1">
                <a:solidFill>
                  <a:srgbClr val="333333"/>
                </a:solidFill>
              </a:rPr>
              <a:t>•  It owns goals, plans work, coordinates agents, learns from work, drafts team communication, runs routines, previews controlled actions, and reports ROI.</a:t>
            </a:r>
          </a:p>
          <a:p>
            <a:pPr>
              <a:spcAft>
                <a:spcPts val="800"/>
              </a:spcAft>
            </a:pPr>
            <a:r>
              <a:rPr sz="1800" b="1">
                <a:solidFill>
                  <a:srgbClr val="333333"/>
                </a:solidFill>
              </a:rPr>
              <a:t>•  Every step is bounded by permission, evidence, approval, and an audit trail.</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An Assistant Answers. ARIA Owns the Work.</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An assistant answers. ARIA owns a goal, plans work, produces artifacts, asks for approval, learns, and reports value.</a:t>
            </a:r>
          </a:p>
          <a:p>
            <a:pPr>
              <a:spcAft>
                <a:spcPts val="800"/>
              </a:spcAft>
            </a:pPr>
            <a:r>
              <a:rPr sz="1800" b="1">
                <a:solidFill>
                  <a:srgbClr val="333333"/>
                </a:solidFill>
              </a:rPr>
              <a:t>•  Assistant: stateless, reactive, no accountability.</a:t>
            </a:r>
          </a:p>
          <a:p>
            <a:pPr>
              <a:spcAft>
                <a:spcPts val="800"/>
              </a:spcAft>
            </a:pPr>
            <a:r>
              <a:rPr sz="1800" b="1">
                <a:solidFill>
                  <a:srgbClr val="333333"/>
                </a:solidFill>
              </a:rPr>
              <a:t>•  ARIA: goal-owning, planful, governed, remembered, measured.</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What ARIA V3 Can Do — Ten Governed Subsystems</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Goal Ownership (V3.1) · Work Execution Loop (V3.2)</a:t>
            </a:r>
          </a:p>
          <a:p>
            <a:pPr>
              <a:spcAft>
                <a:spcPts val="800"/>
              </a:spcAft>
            </a:pPr>
            <a:r>
              <a:rPr sz="1800" b="1">
                <a:solidFill>
                  <a:srgbClr val="333333"/>
                </a:solidFill>
              </a:rPr>
              <a:t>•  Dynamic Agent Workforce (V3.3) · Agent Supervision + Governance (V3.4)</a:t>
            </a:r>
          </a:p>
          <a:p>
            <a:pPr>
              <a:spcAft>
                <a:spcPts val="800"/>
              </a:spcAft>
            </a:pPr>
            <a:r>
              <a:rPr sz="1800" b="1">
                <a:solidFill>
                  <a:srgbClr val="333333"/>
                </a:solidFill>
              </a:rPr>
              <a:t>•  Governed Skill Evolution (V3.5) · Work Memory + World Awareness (V3.6)</a:t>
            </a:r>
          </a:p>
          <a:p>
            <a:pPr>
              <a:spcAft>
                <a:spcPts val="800"/>
              </a:spcAft>
            </a:pPr>
            <a:r>
              <a:rPr sz="1800" b="1">
                <a:solidFill>
                  <a:srgbClr val="333333"/>
                </a:solidFill>
              </a:rPr>
              <a:t>•  Draft-only Team Collaboration (V3.7) · Scheduled Routines (V3.8)</a:t>
            </a:r>
          </a:p>
          <a:p>
            <a:pPr>
              <a:spcAft>
                <a:spcPts val="800"/>
              </a:spcAft>
            </a:pPr>
            <a:r>
              <a:rPr sz="1800" b="1">
                <a:solidFill>
                  <a:srgbClr val="333333"/>
                </a:solidFill>
              </a:rPr>
              <a:t>•  Controlled Action Gate (V3.9) · Manager Dashboard + ROI (V3.10)</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One Goal, Start to Finish</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Goal → problem statement → roadmap → task board</a:t>
            </a:r>
          </a:p>
          <a:p>
            <a:pPr>
              <a:spcAft>
                <a:spcPts val="800"/>
              </a:spcAft>
            </a:pPr>
            <a:r>
              <a:rPr sz="1800" b="1">
                <a:solidFill>
                  <a:srgbClr val="333333"/>
                </a:solidFill>
              </a:rPr>
              <a:t>•  → specialist agents → evidence / governance → artifacts</a:t>
            </a:r>
          </a:p>
          <a:p>
            <a:pPr>
              <a:spcAft>
                <a:spcPts val="800"/>
              </a:spcAft>
            </a:pPr>
            <a:r>
              <a:rPr sz="1800" b="1">
                <a:solidFill>
                  <a:srgbClr val="333333"/>
                </a:solidFill>
              </a:rPr>
              <a:t>•  → approvals → reusable lessons → manager dashboard + ROI</a:t>
            </a:r>
          </a:p>
          <a:p>
            <a:pPr>
              <a:spcAft>
                <a:spcPts val="800"/>
              </a:spcAft>
            </a:pPr>
            <a:r>
              <a:rPr sz="1800" b="1">
                <a:solidFill>
                  <a:srgbClr val="333333"/>
                </a:solidFill>
              </a:rPr>
              <a:t>•  Every arrow is a governed transition with a Work Ledger trace.</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It Builds a Team — and Supervises It</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ARIA creates bounded specialist agents on demand (typed briefs, narrow scope).</a:t>
            </a:r>
          </a:p>
          <a:p>
            <a:pPr>
              <a:spcAft>
                <a:spcPts val="800"/>
              </a:spcAft>
            </a:pPr>
            <a:r>
              <a:rPr sz="1800" b="1">
                <a:solidFill>
                  <a:srgbClr val="333333"/>
                </a:solidFill>
              </a:rPr>
              <a:t>•  It supervises them — dependency, budget, quality, escalation gates.</a:t>
            </a:r>
          </a:p>
          <a:p>
            <a:pPr>
              <a:spcAft>
                <a:spcPts val="800"/>
              </a:spcAft>
            </a:pPr>
            <a:r>
              <a:rPr sz="1800" b="1">
                <a:solidFill>
                  <a:srgbClr val="333333"/>
                </a:solidFill>
              </a:rPr>
              <a:t>•  It merges results and stops unsafe work (blocks on missing evidence).</a:t>
            </a:r>
          </a:p>
          <a:p>
            <a:pPr>
              <a:spcAft>
                <a:spcPts val="800"/>
              </a:spcAft>
            </a:pPr>
            <a:r>
              <a:rPr sz="1800" b="1">
                <a:solidFill>
                  <a:srgbClr val="333333"/>
                </a:solidFill>
              </a:rPr>
              <a:t>•  Dry-run only: a brief is a plan, never a live process; write tools forbidden.</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Learns From Work — Improves Under Approval</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Work Memory Graph: reusable, source-cited lessons from real work history.</a:t>
            </a:r>
          </a:p>
          <a:p>
            <a:pPr>
              <a:spcAft>
                <a:spcPts val="800"/>
              </a:spcAft>
            </a:pPr>
            <a:r>
              <a:rPr sz="1800" b="1">
                <a:solidFill>
                  <a:srgbClr val="333333"/>
                </a:solidFill>
              </a:rPr>
              <a:t>•  Skill Evolution: detects repeated gaps, proposes new skills.</a:t>
            </a:r>
          </a:p>
          <a:p>
            <a:pPr>
              <a:spcAft>
                <a:spcPts val="800"/>
              </a:spcAft>
            </a:pPr>
            <a:r>
              <a:rPr sz="1800" b="1">
                <a:solidFill>
                  <a:srgbClr val="333333"/>
                </a:solidFill>
              </a:rPr>
              <a:t>•  Activation is approval-gated — ARIA never switches on a new capability itself.</a:t>
            </a:r>
          </a:p>
          <a:p>
            <a:pPr>
              <a:spcAft>
                <a:spcPts val="800"/>
              </a:spcAft>
            </a:pPr>
            <a:r>
              <a:rPr sz="1800" b="1">
                <a:solidFill>
                  <a:srgbClr val="333333"/>
                </a:solidFill>
              </a:rPr>
              <a:t>•  World awareness is advisory and fixture-only — never company truth, never live web.</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Communicates Like a Reliable Teammate — Draft-Only</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Prepares manager updates, stakeholder questions, handoff notes, approval-request drafts, risk escalations.</a:t>
            </a:r>
          </a:p>
          <a:p>
            <a:pPr>
              <a:spcAft>
                <a:spcPts val="800"/>
              </a:spcAft>
            </a:pPr>
            <a:r>
              <a:rPr sz="1800" b="1">
                <a:solidFill>
                  <a:srgbClr val="333333"/>
                </a:solidFill>
              </a:rPr>
              <a:t>•  Draft-only: it can draft, summarize, ask, escalate, hand off — it cannot send, post, comment, or email.</a:t>
            </a:r>
          </a:p>
          <a:p>
            <a:pPr>
              <a:spcAft>
                <a:spcPts val="800"/>
              </a:spcAft>
            </a:pPr>
            <a:r>
              <a:rPr sz="1800" b="1">
                <a:solidFill>
                  <a:srgbClr val="333333"/>
                </a:solidFill>
              </a:rPr>
              <a:t>•  Approval marks a draft approved as an artifact — it never triggers a send.</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The Action Gate — Deny by Default</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Every action: Preview → Approval → dry-run / internal-mock receipt.</a:t>
            </a:r>
          </a:p>
          <a:p>
            <a:pPr>
              <a:spcAft>
                <a:spcPts val="800"/>
              </a:spcAft>
            </a:pPr>
            <a:r>
              <a:rPr sz="1800" b="1">
                <a:solidFill>
                  <a:srgbClr val="333333"/>
                </a:solidFill>
              </a:rPr>
              <a:t>•  Deny-by-default: external targets (Teams/Slack/Jira/GitHub/webhook) are blocked; live mode is disabled and store-enforced.</a:t>
            </a:r>
          </a:p>
          <a:p>
            <a:pPr>
              <a:spcAft>
                <a:spcPts val="800"/>
              </a:spcAft>
            </a:pPr>
            <a:r>
              <a:rPr sz="1800" b="1">
                <a:solidFill>
                  <a:srgbClr val="333333"/>
                </a:solidFill>
              </a:rPr>
              <a:t>•  Approval is bound to the action + payload + scope — a changed payload requires re-approval; rejected/expired approvals cannot execute.</a:t>
            </a:r>
          </a:p>
          <a:p>
            <a:pPr>
              <a:spcAft>
                <a:spcPts val="800"/>
              </a:spcAft>
            </a:pPr>
            <a:r>
              <a:rPr sz="1800" b="1">
                <a:solidFill>
                  <a:srgbClr val="333333"/>
                </a:solidFill>
              </a:rPr>
              <a:t>•  No uncontrolled live writes. Ever.</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Manage It Like an Employee</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One read-only view: goals, tasks, agents, memory/skills, drafts, routines, actions, approval queue, risks, and estimated ROI.</a:t>
            </a:r>
          </a:p>
          <a:p>
            <a:pPr>
              <a:spcAft>
                <a:spcPts val="800"/>
              </a:spcAft>
            </a:pPr>
            <a:r>
              <a:rPr sz="1800" b="1">
                <a:solidFill>
                  <a:srgbClr val="333333"/>
                </a:solidFill>
              </a:rPr>
              <a:t>•  ROI is estimated, evidence-backed, conservative, transparent (minutes saved by default; cost only if an hourly rate is configured — no invented numbers).</a:t>
            </a:r>
          </a:p>
          <a:p>
            <a:pPr>
              <a:spcAft>
                <a:spcPts val="800"/>
              </a:spcAft>
            </a:pPr>
            <a:r>
              <a:rPr sz="1800" b="1">
                <a:solidFill>
                  <a:srgbClr val="333333"/>
                </a:solidFill>
              </a:rPr>
              <a:t>•  The store rejects fabricated claims (e.g. live receipts, non-estimated ROI).</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Governed by Design — Explicit Non-Goals (V3 does NOT include)</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a:solidFill>
                  <a:srgbClr val="B02A2A"/>
                </a:solidFill>
              </a:rPr>
              <a:t>✕ Production deployment · public release</a:t>
            </a:r>
          </a:p>
          <a:p>
            <a:pPr>
              <a:spcAft>
                <a:spcPts val="800"/>
              </a:spcAft>
            </a:pPr>
            <a:r>
              <a:rPr sz="1800">
                <a:solidFill>
                  <a:srgbClr val="B02A2A"/>
                </a:solidFill>
              </a:rPr>
              <a:t>✕ Real external writes · real Teams/Slack/Gmail/Jira/GitHub writes</a:t>
            </a:r>
          </a:p>
          <a:p>
            <a:pPr>
              <a:spcAft>
                <a:spcPts val="800"/>
              </a:spcAft>
            </a:pPr>
            <a:r>
              <a:rPr sz="1800">
                <a:solidFill>
                  <a:srgbClr val="B02A2A"/>
                </a:solidFill>
              </a:rPr>
              <a:t>✕ Uncontrolled live browsing · runtime adapters</a:t>
            </a:r>
          </a:p>
          <a:p>
            <a:pPr>
              <a:spcAft>
                <a:spcPts val="800"/>
              </a:spcAft>
            </a:pPr>
            <a:r>
              <a:rPr sz="1800">
                <a:solidFill>
                  <a:srgbClr val="B02A2A"/>
                </a:solidFill>
              </a:rPr>
              <a:t>✕ Claude Managed Agent integration · MCP execution</a:t>
            </a:r>
          </a:p>
          <a:p>
            <a:pPr>
              <a:spcAft>
                <a:spcPts val="800"/>
              </a:spcAft>
            </a:pPr>
            <a:r>
              <a:rPr sz="1800">
                <a:solidFill>
                  <a:srgbClr val="B02A2A"/>
                </a:solidFill>
              </a:rPr>
              <a:t>✕ Automatic approval · automatic skill activation</a:t>
            </a:r>
          </a:p>
          <a:p>
            <a:pPr>
              <a:spcAft>
                <a:spcPts val="800"/>
              </a:spcAft>
            </a:pPr>
            <a:r>
              <a:rPr sz="1800">
                <a:solidFill>
                  <a:srgbClr val="B02A2A"/>
                </a:solidFill>
              </a:rPr>
              <a:t>✕ Self-modifying production code</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Runtimes Are Workers. ARIA Is the Control Plane.</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Anthropic can provide managed agent runtime. ARIA provides governed work ownership.</a:t>
            </a:r>
          </a:p>
          <a:p>
            <a:pPr>
              <a:spcAft>
                <a:spcPts val="800"/>
              </a:spcAft>
            </a:pPr>
            <a:r>
              <a:rPr sz="1800" b="1">
                <a:solidFill>
                  <a:srgbClr val="333333"/>
                </a:solidFill>
              </a:rPr>
              <a:t>•  launch-your-agent may create agents quickly. ARIA decides which agents should exist, what they are allowed to do, how they are evaluated, and how their work is remembered.</a:t>
            </a:r>
          </a:p>
          <a:p>
            <a:pPr>
              <a:spcAft>
                <a:spcPts val="800"/>
              </a:spcAft>
            </a:pPr>
            <a:r>
              <a:rPr sz="1800" b="1">
                <a:solidFill>
                  <a:srgbClr val="333333"/>
                </a:solidFill>
              </a:rPr>
              <a:t>•  External runtimes (Claude Managed Agents, launch-your-agent, OpenAI Agents SDK, MCP, REST/Docker) can become workers under ARIA later — they don't replace it.</a:t>
            </a:r>
          </a:p>
          <a:p>
            <a:pPr>
              <a:spcAft>
                <a:spcPts val="800"/>
              </a:spcAft>
            </a:pPr>
            <a:r>
              <a:rPr sz="1800" b="1">
                <a:solidFill>
                  <a:srgbClr val="333333"/>
                </a:solidFill>
              </a:rPr>
              <a:t>•  The runtime is swappable; the governance, memory, audit, approval, and ROI layer is the moat.</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What V3 Proves — A Practical Governed AI Employee System</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V3 focused tests: 371 passed · Full backend: 1577 passed, 1 skipped</a:t>
            </a:r>
          </a:p>
          <a:p>
            <a:pPr>
              <a:spcAft>
                <a:spcPts val="800"/>
              </a:spcAft>
            </a:pPr>
            <a:r>
              <a:rPr sz="1800" b="1">
                <a:solidFill>
                  <a:srgbClr val="333333"/>
                </a:solidFill>
              </a:rPr>
              <a:t>•  Tag aria-v3-goal-driven-workforce → endpoint 17021ef; merged locally into master</a:t>
            </a:r>
          </a:p>
          <a:p>
            <a:pPr>
              <a:spcAft>
                <a:spcPts val="800"/>
              </a:spcAft>
            </a:pPr>
            <a:r>
              <a:rPr sz="1800" b="1">
                <a:solidFill>
                  <a:srgbClr val="333333"/>
                </a:solidFill>
              </a:rPr>
              <a:t>•  Deterministic, offline end-to-end proof (one command) — no network, no external write</a:t>
            </a:r>
          </a:p>
          <a:p>
            <a:pPr>
              <a:spcAft>
                <a:spcPts val="800"/>
              </a:spcAft>
            </a:pPr>
            <a:r>
              <a:rPr sz="1800" b="1">
                <a:solidFill>
                  <a:srgbClr val="333333"/>
                </a:solidFill>
              </a:rPr>
              <a:t>•  Ten governed subsystems under one audit + policy contract</a:t>
            </a:r>
          </a:p>
          <a:p>
            <a:pPr>
              <a:spcAft>
                <a:spcPts val="800"/>
              </a:spcAft>
            </a:pPr>
            <a:r>
              <a:rPr sz="1800" b="1">
                <a:solidFill>
                  <a:srgbClr val="333333"/>
                </a:solidFill>
              </a:rPr>
              <a:t>•  Public release blocked pending employer/IP approval</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C7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64240" cy="731520"/>
          </a:xfrm>
          <a:prstGeom prst="rect">
            <a:avLst/>
          </a:prstGeom>
          <a:noFill/>
        </p:spPr>
        <p:txBody>
          <a:bodyPr wrap="square" anchor="ctr">
            <a:spAutoFit/>
          </a:bodyPr>
          <a:lstStyle/>
          <a:p>
            <a:r>
              <a:rPr sz="2600" b="1">
                <a:solidFill>
                  <a:srgbClr val="FFFFFF"/>
                </a:solidFill>
              </a:rPr>
              <a:t>Next: V4 Roadmap (Not Started)</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800"/>
              </a:spcAft>
            </a:pPr>
            <a:r>
              <a:rPr sz="1800" b="1">
                <a:solidFill>
                  <a:srgbClr val="333333"/>
                </a:solidFill>
              </a:rPr>
              <a:t>•  External runtime adapter layer — governed backends for real agents.</a:t>
            </a:r>
          </a:p>
          <a:p>
            <a:pPr>
              <a:spcAft>
                <a:spcPts val="800"/>
              </a:spcAft>
            </a:pPr>
            <a:r>
              <a:rPr sz="1800" b="1">
                <a:solidFill>
                  <a:srgbClr val="333333"/>
                </a:solidFill>
              </a:rPr>
              <a:t>•  Claude Managed Agents adapter · launch-your-agent compatibility.</a:t>
            </a:r>
          </a:p>
          <a:p>
            <a:pPr>
              <a:spcAft>
                <a:spcPts val="800"/>
              </a:spcAft>
            </a:pPr>
            <a:r>
              <a:rPr sz="1800" b="1">
                <a:solidFill>
                  <a:srgbClr val="333333"/>
                </a:solidFill>
              </a:rPr>
              <a:t>•  MCP / OpenAI Agents SDK / REST / Docker agent adapters.</a:t>
            </a:r>
          </a:p>
          <a:p>
            <a:pPr>
              <a:spcAft>
                <a:spcPts val="800"/>
              </a:spcAft>
            </a:pPr>
            <a:r>
              <a:rPr sz="1800" b="1">
                <a:solidFill>
                  <a:srgbClr val="333333"/>
                </a:solidFill>
              </a:rPr>
              <a:t>•  Controlled experiments + limited approved live execution (behind written policies).</a:t>
            </a:r>
          </a:p>
          <a:p>
            <a:pPr>
              <a:spcAft>
                <a:spcPts val="800"/>
              </a:spcAft>
            </a:pPr>
            <a:r>
              <a:rPr sz="1800" b="1">
                <a:solidFill>
                  <a:srgbClr val="333333"/>
                </a:solidFill>
              </a:rPr>
              <a:t>•  Emerging Capability Radar: map new AI launches → adapter proposals.</a:t>
            </a:r>
          </a:p>
          <a:p>
            <a:pPr>
              <a:spcAft>
                <a:spcPts val="800"/>
              </a:spcAft>
            </a:pPr>
            <a:r>
              <a:rPr sz="1800" b="1">
                <a:solidFill>
                  <a:srgbClr val="333333"/>
                </a:solidFill>
              </a:rPr>
              <a:t>•  All gated on governance, evaluation, and the employer/IP/publication boundary.</a:t>
            </a:r>
          </a:p>
        </p:txBody>
      </p:sp>
      <p:sp>
        <p:nvSpPr>
          <p:cNvPr id="6" name="TextBox 5"/>
          <p:cNvSpPr txBox="1"/>
          <p:nvPr/>
        </p:nvSpPr>
        <p:spPr>
          <a:xfrm>
            <a:off x="457200" y="6355080"/>
            <a:ext cx="11338560" cy="365760"/>
          </a:xfrm>
          <a:prstGeom prst="rect">
            <a:avLst/>
          </a:prstGeom>
          <a:noFill/>
        </p:spPr>
        <p:txBody>
          <a:bodyPr wrap="square">
            <a:spAutoFit/>
          </a:bodyPr>
          <a:lstStyle/>
          <a:p>
            <a:r>
              <a:rPr sz="900">
                <a:solidFill>
                  <a:srgbClr val="6B7280"/>
                </a:solidFill>
              </a:rPr>
              <a:t>ARIA V3 — Governed AI Employee Workforce  ·  Private internal pilot  ·  Public release blocked pending employer/IP approval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